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GRAPHICAL MODELS • FRAUD DETECTION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5196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MATHEMATICS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CONCEPTS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Probabilistic Fraud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157984"/>
            <a:ext cx="10149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Networks • Hidden Markov Models • EM • Inference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8549640" cy="1965960"/>
          </a:xfrm>
          <a:prstGeom prst="roundRect">
            <a:avLst>
              <a:gd name="adj" fmla="val 3721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3246120"/>
            <a:ext cx="7909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3639312"/>
            <a:ext cx="7909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“Given what we observed, how likely is fraud?”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0" y="4279392"/>
            <a:ext cx="6720840" cy="493776"/>
          </a:xfrm>
          <a:prstGeom prst="roundRect">
            <a:avLst>
              <a:gd name="adj" fmla="val 14815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4306824"/>
            <a:ext cx="650138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P(Fraud | Transaction History)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5349240"/>
            <a:ext cx="9875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math-first view of uncertainty, dependencies, sequences, and learning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Probability &amp; Uncertainty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 begins with probability, not certainty.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probability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2971800" cy="530352"/>
          </a:xfrm>
          <a:prstGeom prst="roundRect">
            <a:avLst>
              <a:gd name="adj" fmla="val 13793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76272"/>
            <a:ext cx="2752344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2971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measures how plausible an event is, from 0 to 1.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transaction is high-value.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8172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device is new.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3892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transaction is fraudulent.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1417320"/>
            <a:ext cx="7095744" cy="4526280"/>
          </a:xfrm>
          <a:prstGeom prst="roundRect">
            <a:avLst>
              <a:gd name="adj" fmla="val 161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probability matters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00600" y="2121408"/>
            <a:ext cx="6355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should separate “unusual” from “almost certainly fraudulent”.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0" y="2944368"/>
            <a:ext cx="1280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410712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device + small amount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3941064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005072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transaction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0" y="4005072"/>
            <a:ext cx="1280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4471416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535424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+ new device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0" y="4535424"/>
            <a:ext cx="1280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5001768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5065776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+ new device + rapid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2640" y="5065776"/>
            <a:ext cx="1280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0600" y="5486400"/>
            <a:ext cx="6355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probability lets the model express confidence and uncertainty.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Conditional Probability &amp; Bayes’ Theorem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belief about fraud after observing evidence.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490472"/>
            <a:ext cx="101132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 | X) = P(X | F) P(F) / P(X)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16352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Fraud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26517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observed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X: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133088"/>
            <a:ext cx="2651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+ location + device + velocity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5968" y="2514600"/>
            <a:ext cx="7040880" cy="2880360"/>
          </a:xfrm>
          <a:prstGeom prst="roundRect">
            <a:avLst>
              <a:gd name="adj" fmla="val 2540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88920"/>
            <a:ext cx="6309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of the formula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6217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P(F) is the prior fraud rate.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721608"/>
            <a:ext cx="6217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 | F) measures how compatible the evidence is with fraud.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4315968"/>
            <a:ext cx="62179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 | X) is the posterior fraud probability we want.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5102352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turns observations into a probability of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Conditional Independence &amp; Bayesian Networks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graph encodes which variables directly depend on each other.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47672"/>
            <a:ext cx="1508760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19272"/>
            <a:ext cx="1508760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2336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4096512"/>
            <a:ext cx="1508760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38414A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816352"/>
            <a:ext cx="15087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947672"/>
            <a:ext cx="1508760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77440" y="2212848"/>
            <a:ext cx="3108960" cy="786384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77440" y="3584448"/>
            <a:ext cx="3108960" cy="-402336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4361688"/>
            <a:ext cx="1051560" cy="-978408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92440" y="2212848"/>
            <a:ext cx="-1097280" cy="667512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397764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independence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4590288"/>
            <a:ext cx="4023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relevant evidence is modeled, unrelated variables need not be treated as directly dependent.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4160520" cy="594360"/>
          </a:xfrm>
          <a:prstGeom prst="roundRect">
            <a:avLst>
              <a:gd name="adj" fmla="val 12308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239512"/>
            <a:ext cx="3941064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 | A,L,D,V)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Graph Theory: Nodes, Edges &amp; Dependencies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network structure is itself a mathematical object.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basics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3F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 = (V, E)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set of variables (nodes).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3255264"/>
            <a:ext cx="30632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set of directed dependencies (edges).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858768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structure expresses assumptions about the joint distribution.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983480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5321808"/>
            <a:ext cx="3063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makes the reasoning interpretable: you can see what influences fraud probability.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6903720" cy="4526280"/>
          </a:xfrm>
          <a:prstGeom prst="roundRect">
            <a:avLst>
              <a:gd name="adj" fmla="val 161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19072"/>
            <a:ext cx="6126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probability factorization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892040" y="2176272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2203704"/>
            <a:ext cx="595274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P(A,L,D,F) = P(A) P(L) P(D) P(F | A,L,D)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3200400"/>
            <a:ext cx="61264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learning one giant probability table, the graph breaks the joint distribution into local conditional terms.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251960"/>
            <a:ext cx="6126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reason graphical models scale better and remain interpretable.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4956048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084064"/>
            <a:ext cx="6172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 → structure → interpretation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Markov Property &amp; Transition Matrices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risk evolves over time; the previous state influences the next state.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52760" cy="676656"/>
          </a:xfrm>
          <a:prstGeom prst="roundRect">
            <a:avLst>
              <a:gd name="adj" fmla="val 10811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44752"/>
            <a:ext cx="10433304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P(Zₜ | Z₁,…,Zₜ₋₁) = P(Zₜ | Zₜ₋₁)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13232" y="2468880"/>
            <a:ext cx="4617720" cy="3337560"/>
          </a:xfrm>
          <a:prstGeom prst="roundRect">
            <a:avLst>
              <a:gd name="adj" fmla="val 2192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743200"/>
            <a:ext cx="4069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matrix 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87552" y="324612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332841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/ 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12848" y="324612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32841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38144" y="324612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332841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7552" y="379476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87705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12848" y="379476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387705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38144" y="379476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5576" y="387705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7552" y="43434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9414A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442569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12848" y="43434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442569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38144" y="43434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4425696"/>
            <a:ext cx="11521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5074920"/>
            <a:ext cx="39776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sums to 1 because it is a probability distribution.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96128" y="2468880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743200"/>
            <a:ext cx="4434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in fraud detection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870448" y="3218688"/>
            <a:ext cx="4206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sequence: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70448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→ Normal → Suspicious → Suspicious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989320" y="4251960"/>
            <a:ext cx="91440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15200" y="4251960"/>
            <a:ext cx="91440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41080" y="4251960"/>
            <a:ext cx="91440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870448" y="4864608"/>
            <a:ext cx="4251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suspicious state can persist, so sequence context matters.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Hidden Markov Model (HMM)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states generate the transactions we can actually observe.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88920" y="2167128"/>
            <a:ext cx="100584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30752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2167128"/>
            <a:ext cx="100584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656832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Fraud-like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962656"/>
            <a:ext cx="2148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transactions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401568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₹500 / Domestic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46120" y="3401568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₹7,000 / Domestic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06440" y="3401568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₹65,000 / Foreign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783080" y="3337560"/>
            <a:ext cx="0" cy="-9144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43400" y="3337560"/>
            <a:ext cx="0" cy="-9144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3337560"/>
            <a:ext cx="0" cy="-9144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24128" y="4187952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84448" y="4187952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4187952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58200" y="1481328"/>
            <a:ext cx="2834640" cy="3611880"/>
          </a:xfrm>
          <a:prstGeom prst="roundRect">
            <a:avLst>
              <a:gd name="adj" fmla="val 2581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probability tables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32520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2651760"/>
            <a:ext cx="2331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Aᵢⱼ = P(Zₜ=j | Zₜ₋₁=i)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3401568"/>
            <a:ext cx="2331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3252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Bⱼ(x) = P(Xₜ=x | Zₜ=j)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32520" y="4553712"/>
            <a:ext cx="2331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 is hidden; the transaction is observed.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Forward–Backward Inference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probability of hidden states using all observed transactions.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440680" cy="4553712"/>
          </a:xfrm>
          <a:prstGeom prst="roundRect">
            <a:avLst>
              <a:gd name="adj" fmla="val 160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00784"/>
            <a:ext cx="4892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probability αₜ(i)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32688" y="2121408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148840"/>
            <a:ext cx="4672584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αₜ(i) = P(X₁:ₜ, Zₜ=i)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idea: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3218688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46120"/>
            <a:ext cx="4672584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αₜ(j) = Bⱼ(Xₜ) Σᵢ αₜ₋₁(i) Aᵢⱼ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4096512"/>
            <a:ext cx="4892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summarizes everything observed up to time 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4882896"/>
            <a:ext cx="4892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= past → present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2784" y="1389888"/>
            <a:ext cx="5285232" cy="4553712"/>
          </a:xfrm>
          <a:prstGeom prst="roundRect">
            <a:avLst>
              <a:gd name="adj" fmla="val 160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700784"/>
            <a:ext cx="47365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probability βₜ(i)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47104" y="2121408"/>
            <a:ext cx="4736592" cy="566928"/>
          </a:xfrm>
          <a:prstGeom prst="roundRect">
            <a:avLst>
              <a:gd name="adj" fmla="val 12903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148840"/>
            <a:ext cx="451713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βₜ(i) = P(Xₜ₊₁:T | Zₜ=i)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47104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idea: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47104" y="3218688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246120"/>
            <a:ext cx="451713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βₜ(i) = Σⱼ Aᵢⱼ Bⱼ(Xₜ₊₁) βₜ₊₁(j)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4096512"/>
            <a:ext cx="4736592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summarizes the future evidence after time 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4882896"/>
            <a:ext cx="473659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= future → present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Posterior Probability &amp; Likelihood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forward and backward evidence to estimate the hidden fraud state.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389888"/>
            <a:ext cx="10287000" cy="685800"/>
          </a:xfrm>
          <a:prstGeom prst="roundRect">
            <a:avLst>
              <a:gd name="adj" fmla="val 10667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417320"/>
            <a:ext cx="1006754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γₜ(i) = P(Zₜ=i | X₁:T) ∝ αₜ(i) βₜ(i)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3794760" cy="3218688"/>
          </a:xfrm>
          <a:prstGeom prst="roundRect">
            <a:avLst>
              <a:gd name="adj" fmla="val 2273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79776"/>
            <a:ext cx="3246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246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probability that the system was in state i at time t, after considering both the past and future observations.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3246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score = γₜ(Fraud)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487168"/>
            <a:ext cx="6400800" cy="3218688"/>
          </a:xfrm>
          <a:prstGeom prst="roundRect">
            <a:avLst>
              <a:gd name="adj" fmla="val 2273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79776"/>
            <a:ext cx="5852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66360" y="321868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3246120"/>
            <a:ext cx="5632704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P(X₁:T) = Σᵢ α_T(i)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4023360"/>
            <a:ext cx="5852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probabilities can become extremely small, training often uses log-likelihood: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46634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4690872"/>
            <a:ext cx="5632704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 L(θ) = Σₙ log P(X⁽ⁿ⁾ | θ)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66360" y="5349240"/>
            <a:ext cx="5852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log-likelihood generally means the parameters explain the observed data better.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Expectation–Maximization (EM)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HMM parameters even though the fraud states are hidden.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E-step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hidden-state probabilities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and 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2075688"/>
            <a:ext cx="114300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404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M-step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1847088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start, transition, and emission probabilities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θ(new)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2075688"/>
            <a:ext cx="1143000" cy="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76288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76288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log-likelihood changes very little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8120" y="2788920"/>
            <a:ext cx="-3108960" cy="1645920"/>
          </a:xfrm>
          <a:prstGeom prst="line">
            <a:avLst/>
          </a:prstGeom>
          <a:noFill/>
          <a:ln w="19050">
            <a:solidFill>
              <a:srgbClr val="F2CC6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61888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60520"/>
            <a:ext cx="10561320" cy="1325880"/>
          </a:xfrm>
          <a:prstGeom prst="roundRect">
            <a:avLst>
              <a:gd name="adj" fmla="val 5517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25696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objective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063240" y="4334256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4361688"/>
            <a:ext cx="764438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θ(new) = argmax_θ  E[ log P(X, Z | θ) 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5468112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Baum–Welch training procedure for an HMM.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Viterbi Decoding &amp; Decision Thresholds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most likely hidden-state sequence, then convert probability into an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09928"/>
            <a:ext cx="4663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Viterbi algorithm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176272"/>
            <a:ext cx="444398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δₜ(j) = maxᵢ [δₜ₋₁(i) Aᵢⱼ] Bⱼ(Xₜ)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→ Normal → Suspicious → Fraud-like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224528"/>
            <a:ext cx="466344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Viterbi answers: “Which hidden-state path is most probable?”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138928"/>
            <a:ext cx="4663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answers: “How probable is fraud at this time?”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09928"/>
            <a:ext cx="4663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92240" y="214884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252A30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176272"/>
            <a:ext cx="444398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B4F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Fraud if P(Fraud | X) ≥ 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2980944"/>
            <a:ext cx="4663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τ is the chosen threshold.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474720"/>
            <a:ext cx="4663440" cy="484632"/>
          </a:xfrm>
          <a:prstGeom prst="roundRect">
            <a:avLst>
              <a:gd name="adj" fmla="val 15094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4663440" cy="484632"/>
          </a:xfrm>
          <a:prstGeom prst="roundRect">
            <a:avLst>
              <a:gd name="adj" fmla="val 15094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087368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26680" y="408736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4572000"/>
            <a:ext cx="4663440" cy="484632"/>
          </a:xfrm>
          <a:prstGeom prst="roundRect">
            <a:avLst>
              <a:gd name="adj" fmla="val 15094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636008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26680" y="463600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alert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5120640"/>
            <a:ext cx="4663440" cy="484632"/>
          </a:xfrm>
          <a:prstGeom prst="roundRect">
            <a:avLst>
              <a:gd name="adj" fmla="val 15094"/>
            </a:avLst>
          </a:prstGeom>
          <a:solidFill>
            <a:srgbClr val="30363D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5184648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518464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/ 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5577840"/>
            <a:ext cx="4663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choice controls the trade-off between false alarms and missed fraud.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From Mathematics to the Final Fraud Score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mathematical pieces connect into one working system.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01952"/>
            <a:ext cx="17373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2203704"/>
            <a:ext cx="411480" cy="91440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82880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901952"/>
            <a:ext cx="17373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2203704"/>
            <a:ext cx="457200" cy="91440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182880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01952"/>
            <a:ext cx="17373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20840" y="2203704"/>
            <a:ext cx="457200" cy="91440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78040" y="182880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30363D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901952"/>
            <a:ext cx="17373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2203704"/>
            <a:ext cx="457200" cy="914400"/>
          </a:xfrm>
          <a:prstGeom prst="line">
            <a:avLst/>
          </a:prstGeom>
          <a:noFill/>
          <a:ln w="22860">
            <a:solidFill>
              <a:srgbClr val="8AB4F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72600" y="182880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38414A"/>
          </a:solidFill>
          <a:ln w="12700">
            <a:solidFill>
              <a:srgbClr val="8AB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901952"/>
            <a:ext cx="173736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10972800" cy="2148840"/>
          </a:xfrm>
          <a:prstGeom prst="roundRect">
            <a:avLst>
              <a:gd name="adj" fmla="val 3404"/>
            </a:avLst>
          </a:prstGeom>
          <a:solidFill>
            <a:srgbClr val="2B3138"/>
          </a:solidFill>
          <a:ln w="12700">
            <a:solidFill>
              <a:srgbClr val="444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pipeline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18288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88920" y="3794760"/>
            <a:ext cx="2377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 / conditional dependence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3520" y="3794760"/>
            <a:ext cx="18288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Markov + HMM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794760"/>
            <a:ext cx="21488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/ Backward + 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3794760"/>
            <a:ext cx="1828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P(Fraud | History)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5440680"/>
            <a:ext cx="10149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takeaway: the project is mathematically strong because it models uncertainty, dependencies, hidden states, and parameter learning — then converts them into an interpretable fraud-risk probability.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6144768"/>
            <a:ext cx="10241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B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viva line: “The model does not simply classify; it infers the probability of a hidden fraud state from sequential evidence.”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Concepts Used in Fraud Detection</dc:title>
  <dc:subject>Mathematical concepts behind probabilistic graphical models for fraud detection</dc:subject>
  <dc:creator>OpenAI</dc:creator>
  <cp:lastModifiedBy>OpenAI</cp:lastModifiedBy>
  <cp:revision>1</cp:revision>
  <dcterms:created xsi:type="dcterms:W3CDTF">2026-09-03T05:11:08Z</dcterms:created>
  <dcterms:modified xsi:type="dcterms:W3CDTF">2026-09-03T05:11:08Z</dcterms:modified>
</cp:coreProperties>
</file>