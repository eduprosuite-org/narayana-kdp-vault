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81" autoAdjust="0"/>
    <p:restoredTop sz="94660"/>
  </p:normalViewPr>
  <p:slideViewPr>
    <p:cSldViewPr snapToGrid="0" snapToObjects="1">
      <p:cViewPr>
        <p:scale>
          <a:sx n="87" d="100"/>
          <a:sy n="87" d="100"/>
        </p:scale>
        <p:origin x="298" y="-13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16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325880"/>
            <a:ext cx="1024128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F304A"/>
                </a:solidFill>
                <a:latin typeface="Aptos Display"/>
              </a:defRPr>
            </a:pPr>
            <a:r>
              <a:t>Applications of Bayes Theorem</a:t>
            </a:r>
            <a:br/>
            <a:r>
              <a:t>for Classification of User Intent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3108960"/>
            <a:ext cx="9601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416996"/>
                </a:solidFill>
                <a:latin typeface="Aptos"/>
              </a:defRPr>
            </a:pPr>
            <a:r>
              <a:t>Project Idea &amp; Mathematical Foundation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114800"/>
            <a:ext cx="3017520" cy="1143000"/>
          </a:xfrm>
          <a:prstGeom prst="round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15568" y="4251960"/>
            <a:ext cx="261518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304A"/>
                </a:solidFill>
                <a:latin typeface="Aptos Display"/>
              </a:defRPr>
            </a:pPr>
            <a:r>
              <a:t>Goal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4736592"/>
            <a:ext cx="2615184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D2D2D"/>
                </a:solidFill>
                <a:latin typeface="Aptos"/>
              </a:defRPr>
            </a:pPr>
            <a:r>
              <a:t>Identify what the user is trying to do.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4114800"/>
            <a:ext cx="3017520" cy="1143000"/>
          </a:xfrm>
          <a:prstGeom prst="round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53128" y="4251960"/>
            <a:ext cx="261518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304A"/>
                </a:solidFill>
                <a:latin typeface="Aptos Display"/>
              </a:defRPr>
            </a:pPr>
            <a:r>
              <a:t>Core Concept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53128" y="4736592"/>
            <a:ext cx="2615184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D2D2D"/>
                </a:solidFill>
                <a:latin typeface="Aptos"/>
              </a:defRPr>
            </a:pPr>
            <a:r>
              <a:t>Bayes Theorem + Naive Bayes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89520" y="4114800"/>
            <a:ext cx="3017520" cy="1143000"/>
          </a:xfrm>
          <a:prstGeom prst="round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90688" y="4251960"/>
            <a:ext cx="261518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304A"/>
                </a:solidFill>
                <a:latin typeface="Aptos Display"/>
              </a:defRPr>
            </a:pPr>
            <a:r>
              <a:t>Input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90688" y="4736592"/>
            <a:ext cx="2615184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D2D2D"/>
                </a:solidFill>
                <a:latin typeface="Aptos"/>
              </a:defRPr>
            </a:pPr>
            <a:r>
              <a:t>A natural-language user message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04A"/>
                </a:solidFill>
                <a:latin typeface="Aptos Display"/>
              </a:defRPr>
            </a:pPr>
            <a:r>
              <a:t>1. What is User Intent?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87552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9737D"/>
                </a:solidFill>
                <a:latin typeface="Aptos"/>
              </a:defRPr>
            </a:pPr>
            <a:r>
              <a:t>The purpose or goal behind a user's message.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3383280" cy="1508760"/>
          </a:xfrm>
          <a:prstGeom prst="round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32688" y="1737360"/>
            <a:ext cx="298094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F304A"/>
                </a:solidFill>
                <a:latin typeface="Aptos Display"/>
              </a:defRPr>
            </a:pPr>
            <a:r>
              <a:t>Example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221992"/>
            <a:ext cx="2980944" cy="7589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D2D2D"/>
                </a:solidFill>
                <a:latin typeface="Aptos"/>
              </a:defRPr>
            </a:pPr>
            <a:r>
              <a:t>"What is my account balance?"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00200"/>
            <a:ext cx="3383280" cy="1508760"/>
          </a:xfrm>
          <a:prstGeom prst="round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90288" y="1737360"/>
            <a:ext cx="298094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F304A"/>
                </a:solidFill>
                <a:latin typeface="Aptos Display"/>
              </a:defRPr>
            </a:pPr>
            <a:r>
              <a:t>Example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0288" y="2221992"/>
            <a:ext cx="2980944" cy="7589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D2D2D"/>
                </a:solidFill>
                <a:latin typeface="Aptos"/>
              </a:defRPr>
            </a:pPr>
            <a:r>
              <a:t>"I forgot my password."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00200"/>
            <a:ext cx="3383280" cy="1508760"/>
          </a:xfrm>
          <a:prstGeom prst="round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47888" y="1737360"/>
            <a:ext cx="298094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F304A"/>
                </a:solidFill>
                <a:latin typeface="Aptos Display"/>
              </a:defRPr>
            </a:pPr>
            <a:r>
              <a:t>Example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47888" y="2221992"/>
            <a:ext cx="2980944" cy="7589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D2D2D"/>
                </a:solidFill>
                <a:latin typeface="Aptos"/>
              </a:defRPr>
            </a:pPr>
            <a:r>
              <a:t>"Where is my order?"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429000"/>
            <a:ext cx="3383280" cy="1508760"/>
          </a:xfrm>
          <a:prstGeom prst="round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32688" y="3566160"/>
            <a:ext cx="298094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F304A"/>
                </a:solidFill>
                <a:latin typeface="Aptos Display"/>
              </a:defRPr>
            </a:pPr>
            <a:r>
              <a:t>Intent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4050791"/>
            <a:ext cx="2980944" cy="7589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D2D2D"/>
                </a:solidFill>
                <a:latin typeface="Aptos"/>
              </a:defRPr>
            </a:pPr>
            <a:r>
              <a:t>Check Balance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3429000"/>
            <a:ext cx="3383280" cy="1508760"/>
          </a:xfrm>
          <a:prstGeom prst="round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90288" y="3566160"/>
            <a:ext cx="298094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F304A"/>
                </a:solidFill>
                <a:latin typeface="Aptos Display"/>
              </a:defRPr>
            </a:pPr>
            <a:r>
              <a:t>Intent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0288" y="4050791"/>
            <a:ext cx="2980944" cy="7589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D2D2D"/>
                </a:solidFill>
                <a:latin typeface="Aptos"/>
              </a:defRPr>
            </a:pPr>
            <a:r>
              <a:t>Password Reset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20" y="3429000"/>
            <a:ext cx="3383280" cy="1508760"/>
          </a:xfrm>
          <a:prstGeom prst="round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47888" y="3566160"/>
            <a:ext cx="298094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F304A"/>
                </a:solidFill>
                <a:latin typeface="Aptos Display"/>
              </a:defRPr>
            </a:pPr>
            <a:r>
              <a:t>Intent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47888" y="4050791"/>
            <a:ext cx="2980944" cy="7589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D2D2D"/>
                </a:solidFill>
                <a:latin typeface="Aptos"/>
              </a:defRPr>
            </a:pPr>
            <a:r>
              <a:t>Order Tracking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6428232"/>
            <a:ext cx="10881360" cy="18288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881360" y="649224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04A"/>
                </a:solidFill>
                <a:latin typeface="Aptos Display"/>
              </a:defRPr>
            </a:pPr>
            <a:r>
              <a:t>2. Project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87552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9737D"/>
                </a:solidFill>
                <a:latin typeface="Aptos"/>
              </a:defRPr>
            </a:pPr>
            <a:r>
              <a:t>Use probability to decide which intent is most likely.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94560"/>
            <a:ext cx="2011680" cy="914400"/>
          </a:xfrm>
          <a:prstGeom prst="roundRect">
            <a:avLst/>
          </a:prstGeom>
          <a:solidFill>
            <a:srgbClr val="F2F6FA"/>
          </a:solidFill>
          <a:ln>
            <a:solidFill>
              <a:srgbClr val="4169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04672" y="2304288"/>
            <a:ext cx="1865376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F304A"/>
                </a:solidFill>
                <a:latin typeface="Aptos"/>
              </a:defRPr>
            </a:pPr>
            <a:r>
              <a:t>User</a:t>
            </a:r>
            <a:br/>
            <a:r>
              <a:t>Message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880360" y="2487168"/>
            <a:ext cx="502920" cy="320040"/>
          </a:xfrm>
          <a:prstGeom prst="rightArrow">
            <a:avLst/>
          </a:prstGeom>
          <a:solidFill>
            <a:srgbClr val="416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429000" y="2194560"/>
            <a:ext cx="2011680" cy="914400"/>
          </a:xfrm>
          <a:prstGeom prst="roundRect">
            <a:avLst/>
          </a:prstGeom>
          <a:solidFill>
            <a:srgbClr val="F2F6FA"/>
          </a:solidFill>
          <a:ln>
            <a:solidFill>
              <a:srgbClr val="4169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502152" y="2304288"/>
            <a:ext cx="1865376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F304A"/>
                </a:solidFill>
                <a:latin typeface="Aptos"/>
              </a:defRPr>
            </a:pPr>
            <a:r>
              <a:t>Text</a:t>
            </a:r>
            <a:br/>
            <a:r>
              <a:t>Preprocessing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577840" y="2487168"/>
            <a:ext cx="502920" cy="320040"/>
          </a:xfrm>
          <a:prstGeom prst="rightArrow">
            <a:avLst/>
          </a:prstGeom>
          <a:solidFill>
            <a:srgbClr val="416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126480" y="2194560"/>
            <a:ext cx="2011680" cy="914400"/>
          </a:xfrm>
          <a:prstGeom prst="roundRect">
            <a:avLst/>
          </a:prstGeom>
          <a:solidFill>
            <a:srgbClr val="F2F6FA"/>
          </a:solidFill>
          <a:ln>
            <a:solidFill>
              <a:srgbClr val="4169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99632" y="2304288"/>
            <a:ext cx="1865376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F304A"/>
                </a:solidFill>
                <a:latin typeface="Aptos"/>
              </a:defRPr>
            </a:pPr>
            <a:r>
              <a:t>Bayes / Naive</a:t>
            </a:r>
            <a:br/>
            <a:r>
              <a:t>Bayes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275320" y="2487168"/>
            <a:ext cx="502920" cy="320040"/>
          </a:xfrm>
          <a:prstGeom prst="rightArrow">
            <a:avLst/>
          </a:prstGeom>
          <a:solidFill>
            <a:srgbClr val="416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823960" y="2194560"/>
            <a:ext cx="2286000" cy="914400"/>
          </a:xfrm>
          <a:prstGeom prst="roundRect">
            <a:avLst/>
          </a:prstGeom>
          <a:solidFill>
            <a:srgbClr val="F2F6FA"/>
          </a:solidFill>
          <a:ln>
            <a:solidFill>
              <a:srgbClr val="4169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897112" y="2304288"/>
            <a:ext cx="2139696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F304A"/>
                </a:solidFill>
                <a:latin typeface="Aptos"/>
              </a:defRPr>
            </a:pPr>
            <a:r>
              <a:t>Predicted</a:t>
            </a:r>
            <a:br/>
            <a:r>
              <a:t>Intent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794760"/>
            <a:ext cx="10241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600">
                <a:solidFill>
                  <a:srgbClr val="2D2D2D"/>
                </a:solidFill>
                <a:latin typeface="Aptos"/>
              </a:defRPr>
            </a:pPr>
            <a:r>
              <a:t>• The system receives a sentence from the user.</a:t>
            </a:r>
          </a:p>
          <a:p>
            <a:pPr>
              <a:spcAft>
                <a:spcPts val="1500"/>
              </a:spcAft>
              <a:defRPr sz="1600">
                <a:solidFill>
                  <a:srgbClr val="2D2D2D"/>
                </a:solidFill>
                <a:latin typeface="Aptos"/>
              </a:defRPr>
            </a:pPr>
            <a:r>
              <a:t>• It processes useful words/features from the message.</a:t>
            </a:r>
          </a:p>
          <a:p>
            <a:pPr>
              <a:spcAft>
                <a:spcPts val="1500"/>
              </a:spcAft>
              <a:defRPr sz="1600">
                <a:solidFill>
                  <a:srgbClr val="2D2D2D"/>
                </a:solidFill>
                <a:latin typeface="Aptos"/>
              </a:defRPr>
            </a:pPr>
            <a:r>
              <a:t>• Bayes-based classification estimates the probability of each intent.</a:t>
            </a:r>
          </a:p>
          <a:p>
            <a:pPr>
              <a:spcAft>
                <a:spcPts val="1500"/>
              </a:spcAft>
              <a:defRPr sz="1600">
                <a:solidFill>
                  <a:srgbClr val="2D2D2D"/>
                </a:solidFill>
                <a:latin typeface="Aptos"/>
              </a:defRPr>
            </a:pPr>
            <a:r>
              <a:t>• The intent with the highest probability is selected.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6428232"/>
            <a:ext cx="10881360" cy="18288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881360" y="649224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04A"/>
                </a:solidFill>
                <a:latin typeface="Aptos Display"/>
              </a:defRPr>
            </a:pPr>
            <a:r>
              <a:t>3. Mathematical Foundation — Bayes Theorem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87552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9737D"/>
                </a:solidFill>
                <a:latin typeface="Aptos"/>
              </a:defRPr>
            </a:pPr>
            <a:r>
              <a:t>The main probability formula used to classify user intent.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1F304A"/>
                </a:solidFill>
                <a:latin typeface="Cambria"/>
              </a:defRPr>
            </a:pPr>
            <a:r>
              <a:t>P(I | M) = [ P(M | I) × P(I) ] / P(M)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560320"/>
            <a:ext cx="5074920" cy="2331720"/>
          </a:xfrm>
          <a:prstGeom prst="round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24128" y="2697479"/>
            <a:ext cx="4672583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F304A"/>
                </a:solidFill>
                <a:latin typeface="Aptos Display"/>
              </a:defRPr>
            </a:pPr>
            <a:r>
              <a:t>Terms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3182112"/>
            <a:ext cx="4672583" cy="1581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D2D2D"/>
                </a:solidFill>
                <a:latin typeface="Aptos"/>
              </a:defRPr>
            </a:pPr>
            <a:r>
              <a:rPr dirty="0"/>
              <a:t>I = User Intent</a:t>
            </a:r>
            <a:br>
              <a:rPr dirty="0"/>
            </a:br>
            <a:r>
              <a:rPr dirty="0"/>
              <a:t>M = User Message</a:t>
            </a:r>
            <a:br>
              <a:rPr dirty="0"/>
            </a:br>
            <a:r>
              <a:rPr dirty="0"/>
              <a:t>P(I | M) = Probability of an intent given the message</a:t>
            </a:r>
            <a:br>
              <a:rPr dirty="0"/>
            </a:br>
            <a:r>
              <a:rPr dirty="0"/>
              <a:t>P(M | I) = Probability of the message given the intent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560320"/>
            <a:ext cx="5074920" cy="2331720"/>
          </a:xfrm>
          <a:prstGeom prst="round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19088" y="2697479"/>
            <a:ext cx="4672583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F304A"/>
                </a:solidFill>
                <a:latin typeface="Aptos Display"/>
              </a:defRPr>
            </a:pPr>
            <a:r>
              <a:t>Meaning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9089" y="3182112"/>
            <a:ext cx="4580088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D2D2D"/>
                </a:solidFill>
                <a:latin typeface="Aptos"/>
              </a:defRPr>
            </a:pPr>
            <a:r>
              <a:rPr dirty="0"/>
              <a:t>P(I) = Prior probability of the intent</a:t>
            </a:r>
            <a:br>
              <a:rPr dirty="0"/>
            </a:br>
            <a:r>
              <a:rPr dirty="0"/>
              <a:t>P(M) = Overall probability of the message</a:t>
            </a:r>
            <a:br>
              <a:rPr dirty="0"/>
            </a:br>
            <a:br>
              <a:rPr dirty="0"/>
            </a:br>
            <a:r>
              <a:rPr dirty="0"/>
              <a:t>The system compares P(I | M) for all possible intents and chooses the highest.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85999" y="5257800"/>
            <a:ext cx="7754815" cy="1005840"/>
          </a:xfrm>
          <a:prstGeom prst="round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487168" y="5394960"/>
            <a:ext cx="718718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304A"/>
                </a:solidFill>
                <a:latin typeface="Aptos Display"/>
              </a:defRPr>
            </a:pPr>
            <a:r>
              <a:t>Project Goal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87168" y="5879592"/>
            <a:ext cx="7187184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D2D2D"/>
                </a:solidFill>
                <a:latin typeface="Aptos"/>
              </a:defRPr>
            </a:pPr>
            <a:r>
              <a:t>Find the most probable intent for a given user message.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6428232"/>
            <a:ext cx="10881360" cy="18288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881360" y="649224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04A"/>
                </a:solidFill>
                <a:latin typeface="Aptos Display"/>
              </a:defRPr>
            </a:pPr>
            <a:r>
              <a:t>4. Numerical Example of Bayes Theorem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87552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9737D"/>
                </a:solidFill>
                <a:latin typeface="Aptos"/>
              </a:defRPr>
            </a:pPr>
            <a:r>
              <a:t>A small example to show how the formula supports a classification decision.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10698480" cy="914400"/>
          </a:xfrm>
          <a:prstGeom prst="round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32687" y="1467612"/>
            <a:ext cx="1029614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F304A"/>
                </a:solidFill>
                <a:latin typeface="Aptos Display"/>
              </a:defRPr>
            </a:pPr>
            <a:r>
              <a:rPr dirty="0"/>
              <a:t>User Message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7775" y="1926219"/>
            <a:ext cx="10296144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D2D2D"/>
                </a:solidFill>
                <a:latin typeface="Aptos"/>
              </a:defRPr>
            </a:pPr>
            <a:r>
              <a:rPr dirty="0"/>
              <a:t>"I forgot my password."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651760"/>
            <a:ext cx="5166360" cy="2148840"/>
          </a:xfrm>
          <a:prstGeom prst="round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2788920"/>
            <a:ext cx="476402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F304A"/>
                </a:solidFill>
                <a:latin typeface="Aptos Display"/>
              </a:defRPr>
            </a:pPr>
            <a:r>
              <a:t>Assume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3273552"/>
            <a:ext cx="4764024" cy="1399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D2D2D"/>
                </a:solidFill>
                <a:latin typeface="Aptos"/>
              </a:defRPr>
            </a:pPr>
            <a:r>
              <a:t>P(Password Reset) = 0.30</a:t>
            </a:r>
            <a:br/>
            <a:r>
              <a:t>P(Message | Password Reset) = 0.80</a:t>
            </a:r>
            <a:br/>
            <a:r>
              <a:t>P(Message) = 0.40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2651760"/>
            <a:ext cx="5166360" cy="2148840"/>
          </a:xfrm>
          <a:prstGeom prst="round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64807" y="2788920"/>
            <a:ext cx="476402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F304A"/>
                </a:solidFill>
                <a:latin typeface="Aptos Display"/>
              </a:defRPr>
            </a:pPr>
            <a:r>
              <a:t>Calculation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7" y="3273552"/>
            <a:ext cx="4764024" cy="1399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D2D2D"/>
                </a:solidFill>
                <a:latin typeface="Aptos"/>
              </a:defRPr>
            </a:pPr>
            <a:r>
              <a:t>P(Password Reset | Message)</a:t>
            </a:r>
            <a:br/>
            <a:r>
              <a:t>= (0.80 × 0.30) / 0.40</a:t>
            </a:r>
            <a:br/>
            <a:r>
              <a:t>= 0.60  → 60%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23160" y="5166360"/>
            <a:ext cx="7529732" cy="914400"/>
          </a:xfrm>
          <a:prstGeom prst="round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624328" y="5303520"/>
            <a:ext cx="7004303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304A"/>
                </a:solidFill>
                <a:latin typeface="Aptos Display"/>
              </a:defRPr>
            </a:pPr>
            <a:r>
              <a:t>Interpretation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24328" y="5788152"/>
            <a:ext cx="7004303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D2D2D"/>
                </a:solidFill>
                <a:latin typeface="Aptos"/>
              </a:defRPr>
            </a:pPr>
            <a:r>
              <a:t>A 60% posterior probability supports Password Reset as the likely intent.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6428232"/>
            <a:ext cx="10881360" cy="18288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881360" y="649224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04A"/>
                </a:solidFill>
                <a:latin typeface="Aptos Display"/>
              </a:defRPr>
            </a:pPr>
            <a:r>
              <a:t>5. Why Naive Bayes?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87552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9737D"/>
                </a:solidFill>
                <a:latin typeface="Aptos"/>
              </a:defRPr>
            </a:pPr>
            <a:r>
              <a:t>A practical classifier that applies Bayes' idea to multiple words/features.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103327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1F304A"/>
                </a:solidFill>
                <a:latin typeface="Cambria"/>
              </a:defRPr>
            </a:pPr>
            <a:r>
              <a:t>P(I | W₁,…,Wₙ) ∝ P(I) × ∏ P(Wⱼ | I)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423160"/>
            <a:ext cx="3429000" cy="1828800"/>
          </a:xfrm>
          <a:prstGeom prst="round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2560320"/>
            <a:ext cx="302666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F304A"/>
                </a:solidFill>
                <a:latin typeface="Aptos Display"/>
              </a:defRPr>
            </a:pPr>
            <a:r>
              <a:t>Simple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3044952"/>
            <a:ext cx="235563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D2D2D"/>
                </a:solidFill>
                <a:latin typeface="Aptos"/>
              </a:defRPr>
            </a:pPr>
            <a:r>
              <a:rPr dirty="0"/>
              <a:t>Easy to understand and implement for a student-level classification project.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423160"/>
            <a:ext cx="3429000" cy="1828800"/>
          </a:xfrm>
          <a:prstGeom prst="round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90288" y="2560320"/>
            <a:ext cx="302666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F304A"/>
                </a:solidFill>
                <a:latin typeface="Aptos Display"/>
              </a:defRPr>
            </a:pPr>
            <a:r>
              <a:t>Fast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0288" y="3044952"/>
            <a:ext cx="2320466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D2D2D"/>
                </a:solidFill>
                <a:latin typeface="Aptos"/>
              </a:defRPr>
            </a:pPr>
            <a:r>
              <a:rPr dirty="0"/>
              <a:t>Can classify a new message quickly after training.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2423160"/>
            <a:ext cx="3429000" cy="1828800"/>
          </a:xfrm>
          <a:prstGeom prst="round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47888" y="2560320"/>
            <a:ext cx="302666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F304A"/>
                </a:solidFill>
                <a:latin typeface="Aptos Display"/>
              </a:defRPr>
            </a:pPr>
            <a:r>
              <a:t>Text Friendly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7888" y="3044952"/>
            <a:ext cx="2320466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D2D2D"/>
                </a:solidFill>
                <a:latin typeface="Aptos"/>
              </a:defRPr>
            </a:pPr>
            <a:r>
              <a:t>Works well as a basic approach for classifying text into categories.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4617720"/>
            <a:ext cx="9875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500">
                <a:solidFill>
                  <a:srgbClr val="2D2D2D"/>
                </a:solidFill>
                <a:latin typeface="Aptos"/>
              </a:defRPr>
            </a:pPr>
            <a:r>
              <a:t>• I = intent; W₁…Wₙ = words/features in the message.</a:t>
            </a:r>
          </a:p>
          <a:p>
            <a:pPr>
              <a:spcAft>
                <a:spcPts val="1500"/>
              </a:spcAft>
              <a:defRPr sz="1500">
                <a:solidFill>
                  <a:srgbClr val="2D2D2D"/>
                </a:solidFill>
                <a:latin typeface="Aptos"/>
              </a:defRPr>
            </a:pPr>
            <a:r>
              <a:t>• The classifier combines word probabilities and compares the possible intents.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6428232"/>
            <a:ext cx="10881360" cy="18288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881360" y="649224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04A"/>
                </a:solidFill>
                <a:latin typeface="Aptos Display"/>
              </a:defRPr>
            </a:pPr>
            <a:r>
              <a:t>6. Basic Training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87552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9737D"/>
                </a:solidFill>
                <a:latin typeface="Aptos"/>
              </a:defRPr>
            </a:pPr>
            <a:r>
              <a:t>Training examples teach the classifier the relationship between messages and intents.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371600"/>
            <a:ext cx="6492240" cy="621792"/>
          </a:xfrm>
          <a:prstGeom prst="rect">
            <a:avLst/>
          </a:prstGeom>
          <a:solidFill>
            <a:srgbClr val="1F304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5568" y="1472184"/>
            <a:ext cx="6272783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ptos"/>
              </a:defRPr>
            </a:pPr>
            <a:r>
              <a:t>Message</a:t>
            </a:r>
          </a:p>
        </p:txBody>
      </p:sp>
      <p:sp>
        <p:nvSpPr>
          <p:cNvPr id="7" name="Rectangle 6"/>
          <p:cNvSpPr/>
          <p:nvPr/>
        </p:nvSpPr>
        <p:spPr>
          <a:xfrm>
            <a:off x="7498079" y="1371600"/>
            <a:ext cx="3566160" cy="621792"/>
          </a:xfrm>
          <a:prstGeom prst="rect">
            <a:avLst/>
          </a:prstGeom>
          <a:solidFill>
            <a:srgbClr val="1F304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07807" y="1472184"/>
            <a:ext cx="3346704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ptos"/>
              </a:defRPr>
            </a:pPr>
            <a:r>
              <a:t>Intent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1993392"/>
            <a:ext cx="6492240" cy="621792"/>
          </a:xfrm>
          <a:prstGeom prst="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15568" y="2093976"/>
            <a:ext cx="6272783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2D2D2D"/>
                </a:solidFill>
                <a:latin typeface="Aptos"/>
              </a:defRPr>
            </a:pPr>
            <a:r>
              <a:t>Hello / Hi there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98079" y="1993392"/>
            <a:ext cx="3566160" cy="621792"/>
          </a:xfrm>
          <a:prstGeom prst="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607807" y="2093976"/>
            <a:ext cx="3346704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2D2D2D"/>
                </a:solidFill>
                <a:latin typeface="Aptos"/>
              </a:defRPr>
            </a:pPr>
            <a:r>
              <a:t>Greeting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5840" y="2615184"/>
            <a:ext cx="6492240" cy="621792"/>
          </a:xfrm>
          <a:prstGeom prst="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15568" y="2715768"/>
            <a:ext cx="6272783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2D2D2D"/>
                </a:solidFill>
                <a:latin typeface="Aptos"/>
              </a:defRPr>
            </a:pPr>
            <a:r>
              <a:t>What is my account balance?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98079" y="2615184"/>
            <a:ext cx="3566160" cy="621792"/>
          </a:xfrm>
          <a:prstGeom prst="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607807" y="2715768"/>
            <a:ext cx="3346704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2D2D2D"/>
                </a:solidFill>
                <a:latin typeface="Aptos"/>
              </a:defRPr>
            </a:pPr>
            <a:r>
              <a:t>Check Balance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05840" y="3236976"/>
            <a:ext cx="6492240" cy="621792"/>
          </a:xfrm>
          <a:prstGeom prst="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15568" y="3337560"/>
            <a:ext cx="6272783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2D2D2D"/>
                </a:solidFill>
                <a:latin typeface="Aptos"/>
              </a:defRPr>
            </a:pPr>
            <a:r>
              <a:t>I want to transfer money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8079" y="3236976"/>
            <a:ext cx="3566160" cy="621792"/>
          </a:xfrm>
          <a:prstGeom prst="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607807" y="3337560"/>
            <a:ext cx="3346704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2D2D2D"/>
                </a:solidFill>
                <a:latin typeface="Aptos"/>
              </a:defRPr>
            </a:pPr>
            <a:r>
              <a:t>Money Transfer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05840" y="3858768"/>
            <a:ext cx="6492240" cy="621792"/>
          </a:xfrm>
          <a:prstGeom prst="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115568" y="3959352"/>
            <a:ext cx="6272783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2D2D2D"/>
                </a:solidFill>
                <a:latin typeface="Aptos"/>
              </a:defRPr>
            </a:pPr>
            <a:r>
              <a:t>I forgot my password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98079" y="3858768"/>
            <a:ext cx="3566160" cy="621792"/>
          </a:xfrm>
          <a:prstGeom prst="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607807" y="3959352"/>
            <a:ext cx="3346704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2D2D2D"/>
                </a:solidFill>
                <a:latin typeface="Aptos"/>
              </a:defRPr>
            </a:pPr>
            <a:r>
              <a:t>Password Reset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05840" y="4480560"/>
            <a:ext cx="6492240" cy="621792"/>
          </a:xfrm>
          <a:prstGeom prst="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115568" y="4581144"/>
            <a:ext cx="6272783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2D2D2D"/>
                </a:solidFill>
                <a:latin typeface="Aptos"/>
              </a:defRPr>
            </a:pPr>
            <a:r>
              <a:t>My card is not working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498079" y="4480560"/>
            <a:ext cx="3566160" cy="621792"/>
          </a:xfrm>
          <a:prstGeom prst="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607807" y="4581144"/>
            <a:ext cx="3346704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2D2D2D"/>
                </a:solidFill>
                <a:latin typeface="Aptos"/>
              </a:defRPr>
            </a:pPr>
            <a:r>
              <a:t>Card Problem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5166360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400">
                <a:solidFill>
                  <a:srgbClr val="2D2D2D"/>
                </a:solidFill>
                <a:latin typeface="Aptos"/>
              </a:defRPr>
            </a:pPr>
            <a:r>
              <a:t>• Each example has a known intent label.</a:t>
            </a:r>
          </a:p>
          <a:p>
            <a:pPr>
              <a:spcAft>
                <a:spcPts val="1500"/>
              </a:spcAft>
              <a:defRPr sz="1400">
                <a:solidFill>
                  <a:srgbClr val="2D2D2D"/>
                </a:solidFill>
                <a:latin typeface="Aptos"/>
              </a:defRPr>
            </a:pPr>
            <a:r>
              <a:t>• A larger and more varied dataset can improve classification on new messages.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6428232"/>
            <a:ext cx="10881360" cy="18288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881360" y="649224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7584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04A"/>
                </a:solidFill>
                <a:latin typeface="Aptos Display"/>
              </a:defRPr>
            </a:pPr>
            <a:r>
              <a:t>7. Basic Text 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87552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9737D"/>
                </a:solidFill>
                <a:latin typeface="Aptos"/>
              </a:defRPr>
            </a:pPr>
            <a:r>
              <a:t>Convert a raw sentence into useful features for classification.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2057400" cy="914400"/>
          </a:xfrm>
          <a:prstGeom prst="roundRect">
            <a:avLst/>
          </a:prstGeom>
          <a:solidFill>
            <a:srgbClr val="F2F6FA"/>
          </a:solidFill>
          <a:ln>
            <a:solidFill>
              <a:srgbClr val="4169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1" y="1938528"/>
            <a:ext cx="19110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F304A"/>
                </a:solidFill>
                <a:latin typeface="Aptos"/>
              </a:defRPr>
            </a:pPr>
            <a:r>
              <a:t>"How much money</a:t>
            </a:r>
            <a:br/>
            <a:r>
              <a:t> do I have?"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834639" y="2121408"/>
            <a:ext cx="502920" cy="320040"/>
          </a:xfrm>
          <a:prstGeom prst="rightArrow">
            <a:avLst/>
          </a:prstGeom>
          <a:solidFill>
            <a:srgbClr val="416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337560" y="1828800"/>
            <a:ext cx="2057400" cy="914400"/>
          </a:xfrm>
          <a:prstGeom prst="roundRect">
            <a:avLst/>
          </a:prstGeom>
          <a:solidFill>
            <a:srgbClr val="F2F6FA"/>
          </a:solidFill>
          <a:ln>
            <a:solidFill>
              <a:srgbClr val="4169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410712" y="1938528"/>
            <a:ext cx="19110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F304A"/>
                </a:solidFill>
                <a:latin typeface="Aptos"/>
              </a:defRPr>
            </a:pPr>
            <a:r>
              <a:t>Lowercase /</a:t>
            </a:r>
            <a:br/>
            <a:r>
              <a:t>Clean text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532120" y="2121408"/>
            <a:ext cx="502920" cy="320040"/>
          </a:xfrm>
          <a:prstGeom prst="rightArrow">
            <a:avLst/>
          </a:prstGeom>
          <a:solidFill>
            <a:srgbClr val="416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035040" y="1828800"/>
            <a:ext cx="2057400" cy="914400"/>
          </a:xfrm>
          <a:prstGeom prst="roundRect">
            <a:avLst/>
          </a:prstGeom>
          <a:solidFill>
            <a:srgbClr val="F2F6FA"/>
          </a:solidFill>
          <a:ln>
            <a:solidFill>
              <a:srgbClr val="4169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08192" y="1938528"/>
            <a:ext cx="19110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F304A"/>
                </a:solidFill>
                <a:latin typeface="Aptos"/>
              </a:defRPr>
            </a:pPr>
            <a:r>
              <a:t>Tokenize /</a:t>
            </a:r>
            <a:br/>
            <a:r>
              <a:t>Extract features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229600" y="2121408"/>
            <a:ext cx="502920" cy="320040"/>
          </a:xfrm>
          <a:prstGeom prst="rightArrow">
            <a:avLst/>
          </a:prstGeom>
          <a:solidFill>
            <a:srgbClr val="416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732520" y="1828800"/>
            <a:ext cx="2468880" cy="914400"/>
          </a:xfrm>
          <a:prstGeom prst="roundRect">
            <a:avLst/>
          </a:prstGeom>
          <a:solidFill>
            <a:srgbClr val="F2F6FA"/>
          </a:solidFill>
          <a:ln>
            <a:solidFill>
              <a:srgbClr val="4169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805672" y="1938528"/>
            <a:ext cx="2322576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F304A"/>
                </a:solidFill>
                <a:latin typeface="Aptos"/>
              </a:defRPr>
            </a:pPr>
            <a:r>
              <a:t>Classifier</a:t>
            </a:r>
            <a:br/>
            <a:r>
              <a:t>uses features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657600"/>
            <a:ext cx="4754880" cy="1508760"/>
          </a:xfrm>
          <a:prstGeom prst="round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15568" y="3794760"/>
            <a:ext cx="435254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F304A"/>
                </a:solidFill>
                <a:latin typeface="Aptos Display"/>
              </a:defRPr>
            </a:pPr>
            <a:r>
              <a:t>Possible useful words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" y="4279392"/>
            <a:ext cx="4352544" cy="7589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D2D2D"/>
                </a:solidFill>
                <a:latin typeface="Aptos"/>
              </a:defRPr>
            </a:pPr>
            <a:r>
              <a:t>money • account • balance • amount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657600"/>
            <a:ext cx="4754880" cy="1508760"/>
          </a:xfrm>
          <a:prstGeom prst="round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19088" y="3794760"/>
            <a:ext cx="435254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F304A"/>
                </a:solidFill>
                <a:latin typeface="Aptos Display"/>
              </a:defRPr>
            </a:pPr>
            <a:r>
              <a:t>Purpose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9088" y="4279392"/>
            <a:ext cx="338433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D2D2D"/>
                </a:solidFill>
                <a:latin typeface="Aptos"/>
              </a:defRPr>
            </a:pPr>
            <a:r>
              <a:rPr dirty="0"/>
              <a:t>Represent the message in a form the classifier can use to estimate intent probabilities.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6428232"/>
            <a:ext cx="10881360" cy="18288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881360" y="649224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8792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04A"/>
                </a:solidFill>
                <a:latin typeface="Aptos Display"/>
              </a:defRPr>
            </a:pPr>
            <a:r>
              <a:t>8. Example Prediction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87552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9737D"/>
                </a:solidFill>
                <a:latin typeface="Aptos"/>
              </a:defRPr>
            </a:pPr>
            <a:r>
              <a:t>The classifier compares probabilities for different intents.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371600"/>
            <a:ext cx="10515600" cy="1051560"/>
          </a:xfrm>
          <a:prstGeom prst="round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24128" y="1508760"/>
            <a:ext cx="1011326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F304A"/>
                </a:solidFill>
                <a:latin typeface="Aptos Display"/>
              </a:defRPr>
            </a:pPr>
            <a:r>
              <a:t>User 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1993392"/>
            <a:ext cx="10113264" cy="30175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D2D2D"/>
                </a:solidFill>
                <a:latin typeface="Aptos"/>
              </a:defRPr>
            </a:pPr>
            <a:r>
              <a:t>"How much money is available in my account?"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4320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D2D2D"/>
                </a:solidFill>
                <a:latin typeface="Aptos"/>
              </a:defRPr>
            </a:pPr>
            <a:r>
              <a:t>Check Balance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54680" y="2761488"/>
            <a:ext cx="6309360" cy="256032"/>
          </a:xfrm>
          <a:prstGeom prst="roundRect">
            <a:avLst/>
          </a:prstGeom>
          <a:solidFill>
            <a:srgbClr val="E6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154680" y="2761488"/>
            <a:ext cx="5173675" cy="256032"/>
          </a:xfrm>
          <a:prstGeom prst="roundRect">
            <a:avLst/>
          </a:prstGeom>
          <a:solidFill>
            <a:srgbClr val="416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46920" y="2724912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F304A"/>
                </a:solidFill>
                <a:latin typeface="Aptos"/>
              </a:defRPr>
            </a:pPr>
            <a:r>
              <a:t>82%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401568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D2D2D"/>
                </a:solidFill>
                <a:latin typeface="Aptos"/>
              </a:defRPr>
            </a:pPr>
            <a:r>
              <a:t>Money Transfer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54680" y="3419856"/>
            <a:ext cx="6309360" cy="256032"/>
          </a:xfrm>
          <a:prstGeom prst="roundRect">
            <a:avLst/>
          </a:prstGeom>
          <a:solidFill>
            <a:srgbClr val="E6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154680" y="3419856"/>
            <a:ext cx="630936" cy="256032"/>
          </a:xfrm>
          <a:prstGeom prst="roundRect">
            <a:avLst/>
          </a:prstGeom>
          <a:solidFill>
            <a:srgbClr val="416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46920" y="3383279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F304A"/>
                </a:solidFill>
                <a:latin typeface="Aptos"/>
              </a:defRPr>
            </a:pPr>
            <a:r>
              <a:t>10%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059935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D2D2D"/>
                </a:solidFill>
                <a:latin typeface="Aptos"/>
              </a:defRPr>
            </a:pPr>
            <a:r>
              <a:t>Password Reset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154680" y="4078223"/>
            <a:ext cx="6309360" cy="256032"/>
          </a:xfrm>
          <a:prstGeom prst="roundRect">
            <a:avLst/>
          </a:prstGeom>
          <a:solidFill>
            <a:srgbClr val="E6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3154680" y="4078223"/>
            <a:ext cx="315468" cy="256032"/>
          </a:xfrm>
          <a:prstGeom prst="roundRect">
            <a:avLst/>
          </a:prstGeom>
          <a:solidFill>
            <a:srgbClr val="416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646920" y="4041648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F304A"/>
                </a:solidFill>
                <a:latin typeface="Aptos"/>
              </a:defRPr>
            </a:pPr>
            <a:r>
              <a:t>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718304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D2D2D"/>
                </a:solidFill>
                <a:latin typeface="Aptos"/>
              </a:defRPr>
            </a:pPr>
            <a:r>
              <a:t>Card Problem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154680" y="4736592"/>
            <a:ext cx="6309360" cy="256032"/>
          </a:xfrm>
          <a:prstGeom prst="roundRect">
            <a:avLst/>
          </a:prstGeom>
          <a:solidFill>
            <a:srgbClr val="E6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3154680" y="4736592"/>
            <a:ext cx="189280" cy="256032"/>
          </a:xfrm>
          <a:prstGeom prst="roundRect">
            <a:avLst/>
          </a:prstGeom>
          <a:solidFill>
            <a:srgbClr val="416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646920" y="4700016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F304A"/>
                </a:solidFill>
                <a:latin typeface="Aptos"/>
              </a:defRPr>
            </a:pPr>
            <a:r>
              <a:t>3%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108960" y="5514183"/>
            <a:ext cx="6355080" cy="813815"/>
          </a:xfrm>
          <a:prstGeom prst="round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310128" y="5518403"/>
            <a:ext cx="590702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304A"/>
                </a:solidFill>
                <a:latin typeface="Aptos Display"/>
              </a:defRPr>
            </a:pPr>
            <a:r>
              <a:rPr dirty="0"/>
              <a:t>Result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10128" y="5936213"/>
            <a:ext cx="5907024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D2D2D"/>
                </a:solidFill>
                <a:latin typeface="Aptos"/>
              </a:defRPr>
            </a:pPr>
            <a:r>
              <a:rPr dirty="0"/>
              <a:t>Predicted Intent → Check Balance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6428232"/>
            <a:ext cx="10881360" cy="18288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881360" y="649224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04A"/>
                </a:solidFill>
                <a:latin typeface="Aptos Display"/>
              </a:defRPr>
            </a:pPr>
            <a:r>
              <a:t>9. Overall Project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87552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9737D"/>
                </a:solidFill>
                <a:latin typeface="Aptos"/>
              </a:defRPr>
            </a:pPr>
            <a:r>
              <a:t>From user input to final intent.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194560"/>
            <a:ext cx="1508760" cy="914400"/>
          </a:xfrm>
          <a:prstGeom prst="roundRect">
            <a:avLst/>
          </a:prstGeom>
          <a:solidFill>
            <a:srgbClr val="F2F6FA"/>
          </a:solidFill>
          <a:ln>
            <a:solidFill>
              <a:srgbClr val="4169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76072" y="2304288"/>
            <a:ext cx="1362456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F304A"/>
                </a:solidFill>
                <a:latin typeface="Aptos"/>
              </a:defRPr>
            </a:pPr>
            <a:r>
              <a:t>User</a:t>
            </a:r>
            <a:br/>
            <a:r>
              <a:t>Input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075688" y="2487168"/>
            <a:ext cx="292608" cy="274320"/>
          </a:xfrm>
          <a:prstGeom prst="rightArrow">
            <a:avLst/>
          </a:prstGeom>
          <a:solidFill>
            <a:srgbClr val="416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404872" y="2194560"/>
            <a:ext cx="1508760" cy="914400"/>
          </a:xfrm>
          <a:prstGeom prst="roundRect">
            <a:avLst/>
          </a:prstGeom>
          <a:solidFill>
            <a:srgbClr val="F2F6FA"/>
          </a:solidFill>
          <a:ln>
            <a:solidFill>
              <a:srgbClr val="4169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478024" y="2304288"/>
            <a:ext cx="1362456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F304A"/>
                </a:solidFill>
                <a:latin typeface="Aptos"/>
              </a:defRPr>
            </a:pPr>
            <a:r>
              <a:t>Preprocess</a:t>
            </a:r>
            <a:br/>
            <a:r>
              <a:t>Text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977639" y="2487168"/>
            <a:ext cx="292608" cy="274320"/>
          </a:xfrm>
          <a:prstGeom prst="rightArrow">
            <a:avLst/>
          </a:prstGeom>
          <a:solidFill>
            <a:srgbClr val="416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306824" y="2194560"/>
            <a:ext cx="1508760" cy="914400"/>
          </a:xfrm>
          <a:prstGeom prst="roundRect">
            <a:avLst/>
          </a:prstGeom>
          <a:solidFill>
            <a:srgbClr val="F2F6FA"/>
          </a:solidFill>
          <a:ln>
            <a:solidFill>
              <a:srgbClr val="4169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379976" y="2304288"/>
            <a:ext cx="1362456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F304A"/>
                </a:solidFill>
                <a:latin typeface="Aptos"/>
              </a:defRPr>
            </a:pPr>
            <a:r>
              <a:t>Extract</a:t>
            </a:r>
            <a:br/>
            <a:r>
              <a:t>Features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879592" y="2487168"/>
            <a:ext cx="292608" cy="274320"/>
          </a:xfrm>
          <a:prstGeom prst="rightArrow">
            <a:avLst/>
          </a:prstGeom>
          <a:solidFill>
            <a:srgbClr val="416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208776" y="2194560"/>
            <a:ext cx="1508760" cy="914400"/>
          </a:xfrm>
          <a:prstGeom prst="roundRect">
            <a:avLst/>
          </a:prstGeom>
          <a:solidFill>
            <a:srgbClr val="F2F6FA"/>
          </a:solidFill>
          <a:ln>
            <a:solidFill>
              <a:srgbClr val="4169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81928" y="2304288"/>
            <a:ext cx="1362456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F304A"/>
                </a:solidFill>
                <a:latin typeface="Aptos"/>
              </a:defRPr>
            </a:pPr>
            <a:r>
              <a:t>Apply Naive</a:t>
            </a:r>
            <a:br/>
            <a:r>
              <a:t>Bayes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781544" y="2487168"/>
            <a:ext cx="292608" cy="274320"/>
          </a:xfrm>
          <a:prstGeom prst="rightArrow">
            <a:avLst/>
          </a:prstGeom>
          <a:solidFill>
            <a:srgbClr val="416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110728" y="2194560"/>
            <a:ext cx="1508760" cy="914400"/>
          </a:xfrm>
          <a:prstGeom prst="roundRect">
            <a:avLst/>
          </a:prstGeom>
          <a:solidFill>
            <a:srgbClr val="F2F6FA"/>
          </a:solidFill>
          <a:ln>
            <a:solidFill>
              <a:srgbClr val="4169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183880" y="2304288"/>
            <a:ext cx="1362456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F304A"/>
                </a:solidFill>
                <a:latin typeface="Aptos"/>
              </a:defRPr>
            </a:pPr>
            <a:r>
              <a:t>Compare</a:t>
            </a:r>
            <a:br/>
            <a:r>
              <a:t>Probabilities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9683496" y="2487168"/>
            <a:ext cx="292608" cy="274320"/>
          </a:xfrm>
          <a:prstGeom prst="rightArrow">
            <a:avLst/>
          </a:prstGeom>
          <a:solidFill>
            <a:srgbClr val="416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0012680" y="2194560"/>
            <a:ext cx="1508760" cy="914400"/>
          </a:xfrm>
          <a:prstGeom prst="roundRect">
            <a:avLst/>
          </a:prstGeom>
          <a:solidFill>
            <a:srgbClr val="F2F6FA"/>
          </a:solidFill>
          <a:ln>
            <a:solidFill>
              <a:srgbClr val="4169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085832" y="2304288"/>
            <a:ext cx="1362456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F304A"/>
                </a:solidFill>
                <a:latin typeface="Aptos"/>
              </a:defRPr>
            </a:pPr>
            <a:r>
              <a:t>Final</a:t>
            </a:r>
            <a:br/>
            <a:r>
              <a:t>Intent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02336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500">
                <a:solidFill>
                  <a:srgbClr val="2D2D2D"/>
                </a:solidFill>
                <a:latin typeface="Aptos"/>
              </a:defRPr>
            </a:pPr>
            <a:r>
              <a:t>• The same process is repeated for every new user message.</a:t>
            </a:r>
          </a:p>
          <a:p>
            <a:pPr>
              <a:spcAft>
                <a:spcPts val="1500"/>
              </a:spcAft>
              <a:defRPr sz="1500">
                <a:solidFill>
                  <a:srgbClr val="2D2D2D"/>
                </a:solidFill>
                <a:latin typeface="Aptos"/>
              </a:defRPr>
            </a:pPr>
            <a:r>
              <a:t>• The output can include the predicted intent and an optional confidence score.</a:t>
            </a:r>
          </a:p>
          <a:p>
            <a:pPr>
              <a:spcAft>
                <a:spcPts val="1500"/>
              </a:spcAft>
              <a:defRPr sz="1500">
                <a:solidFill>
                  <a:srgbClr val="2D2D2D"/>
                </a:solidFill>
                <a:latin typeface="Aptos"/>
              </a:defRPr>
            </a:pPr>
            <a:r>
              <a:t>• The project demonstrates a practical application of probability and Bayes-based classification.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6428232"/>
            <a:ext cx="10881360" cy="18288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881360" y="649224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93431" y="-13716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04A"/>
                </a:solidFill>
                <a:latin typeface="Aptos Display"/>
              </a:defRPr>
            </a:pPr>
            <a:r>
              <a:t>10. Proposed Basic 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87552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9737D"/>
                </a:solidFill>
                <a:latin typeface="Aptos"/>
              </a:defRPr>
            </a:pPr>
            <a:r>
              <a:t>Keep the first version simple; focus on the mathematical and classification concept.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3383280" cy="1645920"/>
          </a:xfrm>
          <a:prstGeom prst="round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32688" y="1554480"/>
            <a:ext cx="874727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F304A"/>
                </a:solidFill>
                <a:latin typeface="Aptos Display"/>
              </a:defRPr>
            </a:pPr>
            <a:r>
              <a:rPr lang="en-IN" b="1" dirty="0">
                <a:solidFill>
                  <a:srgbClr val="1F304A"/>
                </a:solidFill>
                <a:latin typeface="Aptos Display"/>
              </a:rPr>
              <a:t>Python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932688" y="2039112"/>
            <a:ext cx="2523319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D2D2D"/>
                </a:solidFill>
                <a:latin typeface="Aptos"/>
              </a:defRPr>
            </a:pPr>
            <a:r>
              <a:rPr lang="en-IN" sz="1500" dirty="0">
                <a:solidFill>
                  <a:srgbClr val="2D2D2D"/>
                </a:solidFill>
                <a:latin typeface="Aptos"/>
              </a:rPr>
              <a:t>Main programming language</a:t>
            </a:r>
            <a:endParaRPr dirty="0"/>
          </a:p>
        </p:txBody>
      </p:sp>
      <p:sp>
        <p:nvSpPr>
          <p:cNvPr id="8" name="Rounded Rectangle 7"/>
          <p:cNvSpPr/>
          <p:nvPr/>
        </p:nvSpPr>
        <p:spPr>
          <a:xfrm>
            <a:off x="4389120" y="1417320"/>
            <a:ext cx="3383280" cy="1645920"/>
          </a:xfrm>
          <a:prstGeom prst="round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05375" y="1563624"/>
            <a:ext cx="867995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F304A"/>
                </a:solidFill>
                <a:latin typeface="Aptos Display"/>
              </a:defRPr>
            </a:pPr>
            <a:r>
              <a:rPr lang="en-IN" b="1" dirty="0" err="1">
                <a:solidFill>
                  <a:srgbClr val="1F304A"/>
                </a:solidFill>
                <a:latin typeface="Aptos Display"/>
              </a:rPr>
              <a:t>Tkinter</a:t>
            </a:r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4590288" y="2039112"/>
            <a:ext cx="2918343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D2D2D"/>
                </a:solidFill>
                <a:latin typeface="Aptos"/>
              </a:defRPr>
            </a:pPr>
            <a:r>
              <a:rPr lang="en-IN" sz="1500" dirty="0">
                <a:solidFill>
                  <a:srgbClr val="2D2D2D"/>
                </a:solidFill>
                <a:latin typeface="Aptos"/>
              </a:rPr>
              <a:t>GUI development</a:t>
            </a:r>
            <a:endParaRPr dirty="0"/>
          </a:p>
        </p:txBody>
      </p:sp>
      <p:sp>
        <p:nvSpPr>
          <p:cNvPr id="11" name="Rounded Rectangle 10"/>
          <p:cNvSpPr/>
          <p:nvPr/>
        </p:nvSpPr>
        <p:spPr>
          <a:xfrm>
            <a:off x="8046720" y="1417320"/>
            <a:ext cx="3383280" cy="1645920"/>
          </a:xfrm>
          <a:prstGeom prst="round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47888" y="1554480"/>
            <a:ext cx="60914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F304A"/>
                </a:solidFill>
                <a:latin typeface="Aptos Display"/>
              </a:defRPr>
            </a:pPr>
            <a:r>
              <a:rPr lang="en-IN" b="1" dirty="0">
                <a:solidFill>
                  <a:srgbClr val="1F304A"/>
                </a:solidFill>
                <a:latin typeface="Aptos Display"/>
              </a:rPr>
              <a:t>CSV</a:t>
            </a:r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8247888" y="2039112"/>
            <a:ext cx="1493550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D2D2D"/>
                </a:solidFill>
                <a:latin typeface="Aptos"/>
              </a:defRPr>
            </a:pPr>
            <a:r>
              <a:rPr lang="en-IN" sz="1500" dirty="0">
                <a:solidFill>
                  <a:srgbClr val="2D2D2D"/>
                </a:solidFill>
                <a:latin typeface="Aptos"/>
              </a:rPr>
              <a:t>Training dataset</a:t>
            </a:r>
            <a:endParaRPr dirty="0"/>
          </a:p>
        </p:txBody>
      </p:sp>
      <p:sp>
        <p:nvSpPr>
          <p:cNvPr id="14" name="Rounded Rectangle 13"/>
          <p:cNvSpPr/>
          <p:nvPr/>
        </p:nvSpPr>
        <p:spPr>
          <a:xfrm>
            <a:off x="2560320" y="3657600"/>
            <a:ext cx="3383280" cy="1645920"/>
          </a:xfrm>
          <a:prstGeom prst="round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761488" y="3794760"/>
            <a:ext cx="2151295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F304A"/>
                </a:solidFill>
                <a:latin typeface="Aptos Display"/>
              </a:defRPr>
            </a:pPr>
            <a:r>
              <a:rPr lang="en-IN" b="1" dirty="0">
                <a:solidFill>
                  <a:srgbClr val="1F304A"/>
                </a:solidFill>
                <a:latin typeface="Aptos Display"/>
              </a:rPr>
              <a:t>Bayes / Naive Bayes</a:t>
            </a:r>
            <a:endParaRPr dirty="0"/>
          </a:p>
        </p:txBody>
      </p:sp>
      <p:sp>
        <p:nvSpPr>
          <p:cNvPr id="16" name="TextBox 15"/>
          <p:cNvSpPr txBox="1"/>
          <p:nvPr/>
        </p:nvSpPr>
        <p:spPr>
          <a:xfrm>
            <a:off x="2761488" y="4279392"/>
            <a:ext cx="283921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D2D2D"/>
                </a:solidFill>
                <a:latin typeface="Aptos"/>
              </a:defRPr>
            </a:pPr>
            <a:r>
              <a:rPr lang="en-IN" sz="1500" dirty="0">
                <a:solidFill>
                  <a:srgbClr val="2D2D2D"/>
                </a:solidFill>
                <a:latin typeface="Aptos"/>
              </a:rPr>
              <a:t>Classification &amp; probability calculations</a:t>
            </a:r>
            <a:endParaRPr dirty="0"/>
          </a:p>
        </p:txBody>
      </p:sp>
      <p:sp>
        <p:nvSpPr>
          <p:cNvPr id="17" name="Rounded Rectangle 16"/>
          <p:cNvSpPr/>
          <p:nvPr/>
        </p:nvSpPr>
        <p:spPr>
          <a:xfrm>
            <a:off x="6217920" y="3657600"/>
            <a:ext cx="3383280" cy="1645920"/>
          </a:xfrm>
          <a:prstGeom prst="round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19088" y="3794760"/>
            <a:ext cx="298094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F304A"/>
                </a:solidFill>
                <a:latin typeface="Aptos Display"/>
              </a:defRPr>
            </a:pPr>
            <a:r>
              <a:t>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087" y="4261807"/>
            <a:ext cx="2874381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D2D2D"/>
                </a:solidFill>
                <a:latin typeface="Aptos"/>
              </a:defRPr>
            </a:pPr>
            <a:r>
              <a:rPr dirty="0"/>
              <a:t>Predicted intent + optional probability/confidence.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6428232"/>
            <a:ext cx="10881360" cy="18288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881360" y="649224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04A"/>
                </a:solidFill>
                <a:latin typeface="Aptos Display"/>
              </a:defRPr>
            </a:pPr>
            <a:r>
              <a:t>11. Scope of the Project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87552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9737D"/>
                </a:solidFill>
                <a:latin typeface="Aptos"/>
              </a:defRPr>
            </a:pPr>
            <a:r>
              <a:t>What the basic mathematical application can demonstrate.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800">
                <a:solidFill>
                  <a:srgbClr val="2D2D2D"/>
                </a:solidFill>
                <a:latin typeface="Aptos"/>
              </a:defRPr>
            </a:pPr>
            <a:r>
              <a:t>• Classify user messages into predefined intent categories.</a:t>
            </a:r>
          </a:p>
          <a:p>
            <a:pPr>
              <a:spcAft>
                <a:spcPts val="1500"/>
              </a:spcAft>
              <a:defRPr sz="1800">
                <a:solidFill>
                  <a:srgbClr val="2D2D2D"/>
                </a:solidFill>
                <a:latin typeface="Aptos"/>
              </a:defRPr>
            </a:pPr>
            <a:r>
              <a:t>• Demonstrate Bayes Theorem with a clear numerical example.</a:t>
            </a:r>
          </a:p>
          <a:p>
            <a:pPr>
              <a:spcAft>
                <a:spcPts val="1500"/>
              </a:spcAft>
              <a:defRPr sz="1800">
                <a:solidFill>
                  <a:srgbClr val="2D2D2D"/>
                </a:solidFill>
                <a:latin typeface="Aptos"/>
              </a:defRPr>
            </a:pPr>
            <a:r>
              <a:t>• Use Naive Bayes to combine probabilities of multiple text features.</a:t>
            </a:r>
          </a:p>
          <a:p>
            <a:pPr>
              <a:spcAft>
                <a:spcPts val="1500"/>
              </a:spcAft>
              <a:defRPr sz="1800">
                <a:solidFill>
                  <a:srgbClr val="2D2D2D"/>
                </a:solidFill>
                <a:latin typeface="Aptos"/>
              </a:defRPr>
            </a:pPr>
            <a:r>
              <a:t>• Test the classifier on new messages and measure basic accuracy.</a:t>
            </a:r>
          </a:p>
          <a:p>
            <a:pPr>
              <a:spcAft>
                <a:spcPts val="1500"/>
              </a:spcAft>
              <a:defRPr sz="1800">
                <a:solidFill>
                  <a:srgbClr val="2D2D2D"/>
                </a:solidFill>
                <a:latin typeface="Aptos"/>
              </a:defRPr>
            </a:pPr>
            <a:r>
              <a:t>• Adapt the same idea to banking, e-commerce, college helpdesks, or customer support.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28232"/>
            <a:ext cx="10881360" cy="18288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881360" y="649224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881</Words>
  <Application>Microsoft Office PowerPoint</Application>
  <PresentationFormat>Widescreen</PresentationFormat>
  <Paragraphs>143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Shravya Mandula</dc:creator>
  <cp:keywords/>
  <dc:description>generated using python-pptx</dc:description>
  <cp:lastModifiedBy>Shravya Mandula</cp:lastModifiedBy>
  <cp:revision>2</cp:revision>
  <dcterms:created xsi:type="dcterms:W3CDTF">2013-01-27T09:14:16Z</dcterms:created>
  <dcterms:modified xsi:type="dcterms:W3CDTF">2026-09-02T06:31:26Z</dcterms:modified>
  <cp:category/>
</cp:coreProperties>
</file>