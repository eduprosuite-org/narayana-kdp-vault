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4348162"/>
            <a:ext cx="5686425" cy="1700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53019" y="2252662"/>
            <a:ext cx="7685960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 dirty="0">
                <a:solidFill>
                  <a:srgbClr val="FFFFFF"/>
                </a:solidFill>
                <a:latin typeface="Poppins"/>
              </a:rPr>
              <a:t>Analysis of Continuous Data</a:t>
            </a:r>
            <a:r>
              <a:rPr dirty="0"/>
              <a:t>
</a:t>
            </a:r>
            <a:r>
              <a:rPr sz="4050" b="1" i="0" u="none" dirty="0">
                <a:solidFill>
                  <a:srgbClr val="FFFFFF"/>
                </a:solidFill>
                <a:latin typeface="Poppins"/>
              </a:rPr>
              <a:t> Using SPSS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976" y="4548187"/>
            <a:ext cx="98012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3C5FD"/>
                </a:solidFill>
                <a:latin typeface="Poppins"/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3312" y="4786312"/>
            <a:ext cx="933450" cy="100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b="0" i="0" u="none" dirty="0">
                <a:solidFill>
                  <a:srgbClr val="FFFFFF"/>
                </a:solidFill>
                <a:latin typeface="Inter SemiBold"/>
              </a:rPr>
              <a:t>G. </a:t>
            </a:r>
            <a:r>
              <a:rPr lang="en-US" sz="1350" b="0" i="0" u="none" dirty="0" err="1">
                <a:solidFill>
                  <a:srgbClr val="FFFFFF"/>
                </a:solidFill>
                <a:latin typeface="Inter SemiBold"/>
              </a:rPr>
              <a:t>Harshitha</a:t>
            </a:r>
            <a:endParaRPr lang="en-US" sz="1350" b="0" i="0" u="none" dirty="0">
              <a:solidFill>
                <a:srgbClr val="FFFFFF"/>
              </a:solidFill>
              <a:latin typeface="Inter SemiBold"/>
            </a:endParaRPr>
          </a:p>
          <a:p>
            <a:pPr algn="ctr">
              <a:lnSpc>
                <a:spcPts val="2025"/>
              </a:lnSpc>
            </a:pPr>
            <a:r>
              <a:rPr lang="en-US" sz="1350" b="0" i="0" u="none" dirty="0" err="1">
                <a:solidFill>
                  <a:srgbClr val="FFFFFF"/>
                </a:solidFill>
                <a:latin typeface="Inter SemiBold"/>
              </a:rPr>
              <a:t>G.Hansika</a:t>
            </a:r>
            <a:endParaRPr lang="en-US" sz="1350" b="0" i="0" u="none" dirty="0">
              <a:solidFill>
                <a:srgbClr val="FFFFFF"/>
              </a:solidFill>
              <a:latin typeface="Inter SemiBold"/>
            </a:endParaRPr>
          </a:p>
          <a:p>
            <a:pPr algn="ctr">
              <a:lnSpc>
                <a:spcPts val="2025"/>
              </a:lnSpc>
            </a:pPr>
            <a:r>
              <a:rPr lang="en-US" sz="1350" dirty="0" err="1">
                <a:solidFill>
                  <a:srgbClr val="FFFFFF"/>
                </a:solidFill>
                <a:latin typeface="Inter SemiBold"/>
              </a:rPr>
              <a:t>Haseebuddin</a:t>
            </a:r>
            <a:endParaRPr lang="en-US" sz="1350" dirty="0">
              <a:solidFill>
                <a:srgbClr val="FFFFFF"/>
              </a:solidFill>
              <a:latin typeface="Inter SemiBold"/>
            </a:endParaRPr>
          </a:p>
          <a:p>
            <a:pPr algn="ctr">
              <a:lnSpc>
                <a:spcPts val="2025"/>
              </a:lnSpc>
            </a:pPr>
            <a:r>
              <a:rPr lang="en-US" sz="1350" b="0" i="0" u="none" dirty="0" err="1">
                <a:solidFill>
                  <a:srgbClr val="FFFFFF"/>
                </a:solidFill>
                <a:latin typeface="Inter SemiBold"/>
              </a:rPr>
              <a:t>Harshal</a:t>
            </a:r>
            <a:endParaRPr sz="1350" b="0" i="0" u="none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0140" y="4548187"/>
            <a:ext cx="11601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3C5FD"/>
                </a:solidFill>
                <a:latin typeface="Poppins"/>
              </a:rPr>
              <a:t>ROLL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7762" y="4786312"/>
            <a:ext cx="1104900" cy="100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dirty="0">
                <a:solidFill>
                  <a:srgbClr val="FFFFFF"/>
                </a:solidFill>
                <a:latin typeface="Inter SemiBold"/>
              </a:rPr>
              <a:t>251U1R2074</a:t>
            </a:r>
          </a:p>
          <a:p>
            <a:pPr algn="ctr">
              <a:lnSpc>
                <a:spcPts val="2025"/>
              </a:lnSpc>
            </a:pPr>
            <a:r>
              <a:rPr lang="en-US" sz="1350" dirty="0">
                <a:solidFill>
                  <a:srgbClr val="FFFFFF"/>
                </a:solidFill>
                <a:latin typeface="Inter SemiBold"/>
              </a:rPr>
              <a:t>251U1R2073</a:t>
            </a:r>
          </a:p>
          <a:p>
            <a:pPr algn="ctr">
              <a:lnSpc>
                <a:spcPts val="2025"/>
              </a:lnSpc>
            </a:pPr>
            <a:r>
              <a:rPr lang="en-US" sz="1350" dirty="0">
                <a:solidFill>
                  <a:srgbClr val="FFFFFF"/>
                </a:solidFill>
                <a:latin typeface="Inter SemiBold"/>
              </a:rPr>
              <a:t>251U1R2040</a:t>
            </a:r>
          </a:p>
          <a:p>
            <a:pPr algn="ctr">
              <a:lnSpc>
                <a:spcPts val="2025"/>
              </a:lnSpc>
            </a:pPr>
            <a:endParaRPr lang="en-US" sz="1350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91036" y="4548187"/>
            <a:ext cx="221027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3C5FD"/>
                </a:solidFill>
                <a:latin typeface="Poppins"/>
              </a:rPr>
              <a:t>COURSE /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662" y="4786312"/>
            <a:ext cx="2105025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b="0" i="0" u="none" dirty="0">
                <a:solidFill>
                  <a:srgbClr val="FFFFFF"/>
                </a:solidFill>
                <a:latin typeface="Inter SemiBold"/>
              </a:rPr>
              <a:t>Probability Theory and </a:t>
            </a:r>
          </a:p>
          <a:p>
            <a:pPr algn="ctr">
              <a:lnSpc>
                <a:spcPts val="2025"/>
              </a:lnSpc>
            </a:pPr>
            <a:r>
              <a:rPr lang="en-US" sz="1350" b="0" i="0" u="none" dirty="0" err="1">
                <a:solidFill>
                  <a:srgbClr val="FFFFFF"/>
                </a:solidFill>
                <a:latin typeface="Inter SemiBold"/>
              </a:rPr>
              <a:t>Stastical</a:t>
            </a:r>
            <a:r>
              <a:rPr lang="en-US" sz="1350" b="0" i="0" u="none" dirty="0">
                <a:solidFill>
                  <a:srgbClr val="FFFFFF"/>
                </a:solidFill>
                <a:latin typeface="Inter SemiBold"/>
              </a:rPr>
              <a:t> Analysis</a:t>
            </a:r>
            <a:endParaRPr sz="1350" b="0" i="0" u="none" dirty="0">
              <a:solidFill>
                <a:srgbClr val="FFFFFF"/>
              </a:solidFill>
              <a:latin typeface="Inter SemiBold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0982AEDF-4540-4A66-A690-83A2C876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39" y="1264444"/>
            <a:ext cx="2558265" cy="5232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196A79-4E8E-4D5D-B42B-F880E9107144}"/>
              </a:ext>
            </a:extLst>
          </p:cNvPr>
          <p:cNvSpPr/>
          <p:nvPr/>
        </p:nvSpPr>
        <p:spPr>
          <a:xfrm>
            <a:off x="4585992" y="1389441"/>
            <a:ext cx="2134110" cy="3488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b="1" dirty="0">
                <a:solidFill>
                  <a:srgbClr val="FFFFFF"/>
                </a:solidFill>
                <a:latin typeface="Inter SemiBold"/>
              </a:rPr>
              <a:t>Presented By LG :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71750"/>
            <a:ext cx="3517850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71750"/>
            <a:ext cx="3517850" cy="2486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71750"/>
            <a:ext cx="3517999" cy="2486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250" y="3438525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67150"/>
            <a:ext cx="2965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systematic process of inspecting, cleaning, and modeling data to discover useful information and support decision-making.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438525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Continuous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867150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Numerical data that can take any value within a given interval, measured along a continuous scale with infinite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438525"/>
            <a:ext cx="311382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Role of SPSS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9200" y="3867150"/>
            <a:ext cx="29655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statistical software package providing automated tools for complex numerical calculations, hypothesis testing, and graphing.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914650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9146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200" y="2914650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324100"/>
            <a:ext cx="5348287" cy="2981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Continuous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324100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Key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8912" y="2628900"/>
            <a:ext cx="5035629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Real-World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790825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Represents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numerical values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that can be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200400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Contains infinite possible values within a scale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609975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Can include fractional and decimal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019550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Measured using interval or ratio scales.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912" y="267652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0987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1945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29025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3860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715" y="3362325"/>
            <a:ext cx="1428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1312" y="3667125"/>
            <a:ext cx="2021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 SemiBold"/>
              </a:rPr>
              <a:t>Height (cm)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7209" y="3362325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60668" y="3667125"/>
            <a:ext cx="2021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 SemiBold"/>
              </a:rPr>
              <a:t>Weight (kg)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0715" y="4343400"/>
            <a:ext cx="142875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91312" y="4648200"/>
            <a:ext cx="2021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 SemiBold"/>
              </a:rPr>
              <a:t>Temperature (°C)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1496" y="4343400"/>
            <a:ext cx="2000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60668" y="4648200"/>
            <a:ext cx="2021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 SemiBold"/>
              </a:rPr>
              <a:t>Time (Seconds)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47987"/>
            <a:ext cx="3517850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947987"/>
            <a:ext cx="3517850" cy="2257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947987"/>
            <a:ext cx="3517999" cy="2257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What is SPSS?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1025" y="2424112"/>
            <a:ext cx="11029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2563EB"/>
                </a:solidFill>
                <a:latin typeface="Inter SemiBold"/>
              </a:rPr>
              <a:t>Statistical Package for the Social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14762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Statistical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43387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Industry-standard tool used worldwide by researchers and analysts for performing quantitative computations.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814762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4243387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Effortlessly imports, transforms, codes, and organizes complex continuous datasets into structured spreadsheets.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9200" y="3814762"/>
            <a:ext cx="311382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Graphs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4243387"/>
            <a:ext cx="29655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Generates high-resolution statistical plots and performs inferential hypothesis tests with a few clicks.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90887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3290887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200" y="3290887"/>
            <a:ext cx="3905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66875"/>
            <a:ext cx="5395912" cy="2028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666875"/>
            <a:ext cx="5395912" cy="2028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33825"/>
            <a:ext cx="5395912" cy="2028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933825"/>
            <a:ext cx="5395912" cy="2028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Why Use SPSS?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253365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Easy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9622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Intuitive graphical interface allows execution of complex tests without coding.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1287" y="253365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Fast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1287" y="296227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Processes thousands of continuous data rows instantly, saving valuable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80060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Accurate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22922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Eliminates human errors in mathematical formula execution and statistical output.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480060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Visual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1287" y="522922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Creates publication-ready histograms, scatter plots, and box plots seamlessly.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009775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009775"/>
            <a:ext cx="3048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276725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1287" y="427672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11029950" cy="5114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The Analysis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05062"/>
            <a:ext cx="5348287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087" y="2919412"/>
            <a:ext cx="5043487" cy="2152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Data Entry in SPSS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2405062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SPSS View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087" y="2586037"/>
            <a:ext cx="5295661" cy="23812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oppins"/>
              </a:rPr>
              <a:t>Sample Data View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824162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Variable View: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Define names, data types, decimals, and scale levels.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490912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Data View: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Spreadsheet matrix containing actual raw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900487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Rows = Cases: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Represents individual participants or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310062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Columns = Variables: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Represents measured parameters.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087" y="2624137"/>
            <a:ext cx="152400" cy="152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24612" y="2928937"/>
          <a:ext cx="502443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Age (Years)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Height (cm)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Score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172.5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88.0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165.0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92.5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180.2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79.0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175.8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85.4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8432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50996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919537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329112"/>
            <a:ext cx="133350" cy="1524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24612" y="3762375"/>
            <a:ext cx="772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97476" y="3762375"/>
            <a:ext cx="1463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61350" y="3762375"/>
            <a:ext cx="1475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36981" y="3762375"/>
            <a:ext cx="1312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24612" y="4191000"/>
            <a:ext cx="772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97476" y="4191000"/>
            <a:ext cx="1463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61350" y="4191000"/>
            <a:ext cx="1475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136981" y="4191000"/>
            <a:ext cx="1312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24612" y="4619625"/>
            <a:ext cx="772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97476" y="4619625"/>
            <a:ext cx="1463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61350" y="4619625"/>
            <a:ext cx="1475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36981" y="4619625"/>
            <a:ext cx="1312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24612" y="5048250"/>
            <a:ext cx="772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97476" y="5048250"/>
            <a:ext cx="1463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61350" y="5048250"/>
            <a:ext cx="1475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136981" y="5048250"/>
            <a:ext cx="1312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81175"/>
            <a:ext cx="5395912" cy="180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781175"/>
            <a:ext cx="5395912" cy="1800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19525"/>
            <a:ext cx="5395912" cy="2028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819525"/>
            <a:ext cx="5395912" cy="2028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Descriptive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264795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076575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arithmetic average of all values in a continuous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1287" y="264795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1287" y="3076575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exact middle value when data is sorted in ascending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68630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Standard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114925"/>
            <a:ext cx="48434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Measures how much individual data values spread out from the mean.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4686300"/>
            <a:ext cx="508563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Min &amp;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1287" y="5114925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smallest and largest observed values in the variable spectrum.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124075"/>
            <a:ext cx="25717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124075"/>
            <a:ext cx="428625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162425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1287" y="416242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86025"/>
            <a:ext cx="5348287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905125"/>
            <a:ext cx="5348287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95750"/>
            <a:ext cx="5348287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912" y="3248025"/>
            <a:ext cx="4795837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3952875"/>
            <a:ext cx="4795837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4448175"/>
            <a:ext cx="4795837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Mean &amp;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1025" y="2486025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Core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16" y="2790825"/>
            <a:ext cx="503562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3A8A"/>
                </a:solidFill>
                <a:latin typeface="Poppins"/>
              </a:rPr>
              <a:t>Simple Calculation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209925"/>
            <a:ext cx="503562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oppins"/>
              </a:rPr>
              <a:t>Mean (Average)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448050"/>
            <a:ext cx="47958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Sum of all values divided by total count of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400550"/>
            <a:ext cx="503562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oppins"/>
              </a:rPr>
              <a:t>Median (Middle 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638675"/>
            <a:ext cx="47958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50th percentile mark; splits data into two equal halves.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0800"/>
            <a:ext cx="11029950" cy="2447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Standard Deviation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590800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Understanding Data Spread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09900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Quantifies the overall dispersion or variability around the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76650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Low SD: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Data points are clustered tightly near the mean.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086225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High SD: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Data points are spread widely across a broader range.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289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69570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0527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6050"/>
            <a:ext cx="3517850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86050"/>
            <a:ext cx="3517850" cy="2257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86050"/>
            <a:ext cx="3517999" cy="2257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Graphical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250" y="3552825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Histogram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81450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Visualizes frequency distribution and checks whether continuous data follows a normal bell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552825"/>
            <a:ext cx="31136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Box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981450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Displays 5-number summary (median, quartiles) and detects extreme outlier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552825"/>
            <a:ext cx="311382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Scatter Plot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9200" y="3981450"/>
            <a:ext cx="29655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Illustrates relationships, trends, and correlations between two continuous variables.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028950"/>
            <a:ext cx="3048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30289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200" y="3028950"/>
            <a:ext cx="4286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0800"/>
            <a:ext cx="11029950" cy="2447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Histogram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590800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Purpose &amp;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09900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Shows shape of data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19475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Helps identify patterns (skewed vs symmetric).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829050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Essential for checking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Normality Assumption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before running statistical tests.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289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43852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4810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0800"/>
            <a:ext cx="11029950" cy="2447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Box Plot &amp; Outliers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590800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Box Plot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09900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Displays five-number statistical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19475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Shows median line inside the central box (IQR).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829050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Outliers: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Points positioned beyond whiskers (extreme values).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289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43852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4810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52687"/>
            <a:ext cx="11029950" cy="2724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Correlation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452687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Pearson Correlation Coefficient (r)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871787"/>
            <a:ext cx="50625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Measures strength and direction of linear relationship between two continuous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38537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Value ranges from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-1.0 to +1.0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48112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+1.0: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Perfect positive linear correlation.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357687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-1.0: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Perfect negative linear correlation.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767262"/>
            <a:ext cx="506253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0.0: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No linear correlation exists.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90837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557587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6716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376737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786312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307431"/>
            <a:ext cx="5348287" cy="3014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98006"/>
            <a:ext cx="5348287" cy="1019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260056"/>
            <a:ext cx="5348287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912" y="2964656"/>
            <a:ext cx="4795837" cy="1724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SPSS Practical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1025" y="2307431"/>
            <a:ext cx="561570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Poppins"/>
              </a:rPr>
              <a:t>Research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697956"/>
            <a:ext cx="534828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Question: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Does study time affect exam marks?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2612231"/>
            <a:ext cx="5035629" cy="2381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Poppins"/>
              </a:rPr>
              <a:t>Sample SPSS Output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4831556"/>
            <a:ext cx="4795837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6534"/>
                </a:solidFill>
                <a:latin typeface="Inter SemiBold"/>
              </a:rPr>
              <a:t>Interpretation: Strong positive correlation (r = 0.78, p &lt; 0.05).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278981"/>
            <a:ext cx="50434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Continuous Variables: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3507581"/>
            <a:ext cx="50434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1. Study Hours (Independent)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3736181"/>
            <a:ext cx="50434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2. Exam Marks (Dependent)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2650331"/>
            <a:ext cx="133350" cy="15240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48437" y="2974181"/>
          <a:ext cx="4776785" cy="17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Correlations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Study Hours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Exam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Pearson (r)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Inter"/>
                        </a:rPr>
                        <a:t>0.780**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Sig. (2-tailed)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Inter"/>
                        </a:rPr>
                        <a:t>0.003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6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 (Sample)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4860131"/>
            <a:ext cx="142875" cy="1428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548437" y="3807618"/>
            <a:ext cx="1663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889" y="3807618"/>
            <a:ext cx="1568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80240" y="3807618"/>
            <a:ext cx="1544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48437" y="4236243"/>
            <a:ext cx="1663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11889" y="4236243"/>
            <a:ext cx="1568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80240" y="4236243"/>
            <a:ext cx="1544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48437" y="4664868"/>
            <a:ext cx="16634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1889" y="4664868"/>
            <a:ext cx="1568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80240" y="4664868"/>
            <a:ext cx="1544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38300"/>
            <a:ext cx="5395912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638300"/>
            <a:ext cx="5395912" cy="137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48025"/>
            <a:ext cx="5395912" cy="1371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248025"/>
            <a:ext cx="5395912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5276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50" b="1" i="0" u="none">
                <a:solidFill>
                  <a:srgbClr val="1E3A8A"/>
                </a:solidFill>
                <a:latin typeface="Poppins"/>
              </a:rPr>
              <a:t>Conclusion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7900" y="97155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326" y="5095875"/>
            <a:ext cx="1078134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543550"/>
            <a:ext cx="10267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BFDBFE"/>
                </a:solidFill>
                <a:latin typeface="Inter"/>
              </a:rPr>
              <a:t>Questions &amp;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505075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SPSS simplifies continuous data entry and processing.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1287" y="2505075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Descriptive statistics summarize data central tendencies.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114800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Histograms and Box Plots reveal key distributions.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4114800"/>
            <a:ext cx="48434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Correlation tests quantify linear relationships.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668" y="1981200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431" y="1981200"/>
            <a:ext cx="25717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7531" y="3590925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1568" y="359092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32" y="1319212"/>
            <a:ext cx="11125200" cy="4357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" y="3184988"/>
            <a:ext cx="107213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 dirty="0">
                <a:solidFill>
                  <a:srgbClr val="FFFFFF"/>
                </a:solidFill>
                <a:latin typeface="Poppins"/>
              </a:rPr>
              <a:t>Thank You</a:t>
            </a:r>
            <a:r>
              <a:rPr lang="en-US" sz="6000" b="1" i="0" u="none" dirty="0">
                <a:solidFill>
                  <a:srgbClr val="FFFFFF"/>
                </a:solidFill>
                <a:latin typeface="Poppins"/>
              </a:rPr>
              <a:t>!!</a:t>
            </a:r>
            <a:r>
              <a:rPr sz="6000" b="1" i="0" u="none" dirty="0">
                <a:solidFill>
                  <a:srgbClr val="FFFFFF"/>
                </a:solidFill>
                <a:latin typeface="Poppins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765</Words>
  <Application>Microsoft Office PowerPoint</Application>
  <PresentationFormat>Widescreen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2026-09-02T06:35:34Z</dcterms:modified>
  <cp:category/>
</cp:coreProperties>
</file>